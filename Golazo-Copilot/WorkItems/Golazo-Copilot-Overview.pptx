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Segoe UI"/>
              </a:defRPr>
            </a:pPr>
            <a:r>
              <a:t>Golazo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0C0"/>
                </a:solidFill>
                <a:latin typeface="Segoe UI"/>
              </a:defRPr>
            </a:pPr>
            <a:r>
              <a:t>Programmatic Workflow Enforcement for GitHub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Segoe UI"/>
              </a:defRPr>
            </a:pPr>
            <a:r>
              <a:t>An MCP server that transforms structured development methodology</a:t>
            </a:r>
            <a:br/>
            <a:r>
              <a:t>from markdown guidance into persistent state, automated gates,</a:t>
            </a:r>
            <a:br/>
            <a:r>
              <a:t>and auditable artifacts.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365760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v2.105  •  Python  •  MCP Protocol  •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Segoe UI"/>
              </a:defRPr>
            </a:pPr>
            <a:r>
              <a:t>Automates</a:t>
            </a:r>
            <a:br/>
            <a:r>
              <a:t>expert</a:t>
            </a:r>
            <a:br/>
            <a:r>
              <a:t>collaboration</a:t>
            </a:r>
            <a:br/>
            <a:r>
              <a:t>for software</a:t>
            </a:r>
            <a:br/>
            <a:r>
              <a:t>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54864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It brings together a virtual team of experts in order to build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60020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*You* play the role of Project Owner and create a workitem.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65176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Golazo Copilot then simulates a team of experts and goes through Definition, Development and Completion phases.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703320"/>
            <a:ext cx="429768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52400" bIns="152400" rIns="152400"/>
          <a:lstStyle/>
          <a:p>
            <a:pPr algn="ctr">
              <a:defRPr sz="1200">
                <a:solidFill>
                  <a:srgbClr val="333333"/>
                </a:solidFill>
                <a:latin typeface="Segoe UI"/>
              </a:defRPr>
            </a:pPr>
            <a:r>
              <a:t>As the team works through the problem, they check and balance each other and produce a variety of artifacts that gives control, explainability, and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Roles in the Golazo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40749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4074972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3292" y="1188720"/>
            <a:ext cx="196048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3292" y="1508760"/>
            <a:ext cx="1960486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7778" y="1188720"/>
            <a:ext cx="5132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COMPLETION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617778" y="1508760"/>
            <a:ext cx="5132215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rPr sz="1100"/>
              <a:t>Forward transitions are validated — you cannot skip roles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rPr lang="en-US" sz="1100"/>
              <a:t>Backward transitions to any prior role are always allowed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rPr lang="en-US" sz="1100"/>
              <a:t>Retrospective can transition back to POA for formal closure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rPr lang="en-US" sz="1100"/>
              <a:t>Each role defines Required Outputs that must exist before moving forward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rPr lang="en-US" sz="1100"/>
              <a:t>Role Decision Notes are required for every role (audit trail)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rPr lang="en-US" sz="1100"/>
              <a:t>Gates can be bypassed with explicit consent (recorded as deviations)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Project</a:t>
            </a:r>
            <a:br/>
            <a:r>
              <a:rPr sz="100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95563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31563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Program</a:t>
            </a:r>
            <a:br/>
            <a:r>
              <a:rPr sz="1000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252806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88806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Quality</a:t>
            </a:r>
            <a:br/>
            <a:r>
              <a:rPr sz="1000">
                <a:solidFill>
                  <a:srgbClr val="FFFFFF"/>
                </a:solidFill>
              </a:rPr>
              <a:t>Assurance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310049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46049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Architect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367292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3292" y="1920240"/>
            <a:ext cx="903243" cy="731520"/>
          </a:xfrm>
          <a:prstGeom prst="roundRect">
            <a:avLst/>
          </a:prstGeom>
          <a:solidFill>
            <a:srgbClr val="008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Domain</a:t>
            </a:r>
            <a:br/>
            <a:r>
              <a:rPr sz="1000">
                <a:solidFill>
                  <a:srgbClr val="FFFFFF"/>
                </a:solidFill>
              </a:rPr>
              <a:t>Expert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424535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60535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Developer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481778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17778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Refactor</a:t>
            </a:r>
            <a:br/>
            <a:r>
              <a:rPr sz="1000">
                <a:solidFill>
                  <a:srgbClr val="FFFFFF"/>
                </a:solidFill>
              </a:rPr>
              <a:t>Expert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539021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75021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Documenter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596264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732264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Builder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653507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89507" y="1920240"/>
            <a:ext cx="903243" cy="7315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Retro-</a:t>
            </a:r>
            <a:br/>
            <a:r>
              <a:rPr sz="1000">
                <a:solidFill>
                  <a:srgbClr val="FFFFFF"/>
                </a:solidFill>
              </a:rPr>
              <a:t>spective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10710750" y="2171700"/>
            <a:ext cx="1180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846750" y="1920240"/>
            <a:ext cx="903243" cy="7315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FFFFFF"/>
                </a:solidFill>
              </a:rPr>
              <a:t>POA</a:t>
            </a:r>
            <a:br/>
            <a:r>
              <a:rPr sz="1000">
                <a:solidFill>
                  <a:srgbClr val="FFFFFF"/>
                </a:solidFill>
              </a:rPr>
              <a:t>Closure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Architecture &amp; MCP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914400" y="117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GitHub Copilot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0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User interaction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2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195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MCP Server (server.py)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9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Tool registration, dispatch,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272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Business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56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Transitions, output validation, consent, roles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3931920" cy="6400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505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33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state.json, role files, capabilities.yaml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Segoe UI"/>
              </a:defRPr>
            </a:pPr>
            <a:r>
              <a:t>6 MCP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173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gcp_create_workitem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205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Initialize new work item with state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202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123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Current role, phase, progress, stale-file warnings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42316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2636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Move between roles with gate enforcement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gcp_consent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1292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Record deviations when bypassing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4290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gcp_bootstrap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3220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Scaffold workspace with instructions &amp; role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9319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  <a:latin typeface="Segoe UI"/>
              </a:defRPr>
            </a:pPr>
            <a:r>
              <a:t>gcp_capabilities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351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Impact analysis via capability registry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Artifacts &amp; Gate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Segoe UI"/>
              </a:defRPr>
            </a:pPr>
            <a:r>
              <a:t>Per-Work Item Directory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WorkItems/GCP-0047/</a:t>
            </a:r>
          </a:p>
          <a:p>
            <a:r>
              <a:rPr lang="en-US"/>
              <a:t>├── GCP-0047-User-Story.md</a:t>
            </a:r>
          </a:p>
          <a:p>
            <a:r>
              <a:rPr lang="en-US"/>
              <a:t>├── GCP-0047-closure.md</a:t>
            </a:r>
          </a:p>
          <a:p>
            <a:r>
              <a:rPr lang="en-US"/>
              <a:t>├── state.json</a:t>
            </a:r>
          </a:p>
          <a:p>
            <a:r>
              <a:rPr lang="en-US"/>
              <a:t>├── Design/</a:t>
            </a:r>
          </a:p>
          <a:p>
            <a:r>
              <a:rPr lang="en-US"/>
              <a:t>│   ├── GCP-0047-design-doc.md</a:t>
            </a:r>
          </a:p>
          <a:p>
            <a:r>
              <a:rPr lang="en-US"/>
              <a:t>│   ├── GCP-0047-Review-Comments.md</a:t>
            </a:r>
          </a:p>
          <a:p>
            <a:r>
              <a:rPr lang="en-US"/>
              <a:t>│   ├── GCP-0047-Test-Cases.md</a:t>
            </a:r>
          </a:p>
          <a:p>
            <a:r>
              <a:rPr lang="en-US"/>
              <a:t>│   └── GCP-0047-Capability-Impact.md</a:t>
            </a:r>
          </a:p>
          <a:p>
            <a:r>
              <a:rPr lang="en-US"/>
              <a:t>└── RoleDecisionNotes/</a:t>
            </a:r>
          </a:p>
          <a:p>
            <a:r>
              <a:rPr lang="en-US"/>
              <a:t>    ├── GCP-0047-project-owner-assistant.md</a:t>
            </a:r>
          </a:p>
          <a:p>
            <a:r>
              <a:rPr lang="en-US"/>
              <a:t>    ├── GCP-0047-program-manager.md</a:t>
            </a:r>
          </a:p>
          <a:p>
            <a:r>
              <a:rPr lang="en-US"/>
              <a:t>    ├── GCP-0047-quality-assurance.md</a:t>
            </a:r>
          </a:p>
          <a:p>
            <a:r>
              <a:rPr lang="en-US"/>
              <a:t>    └── ... (one per role visited)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Segoe UI"/>
              </a:defRPr>
            </a:pPr>
            <a:r>
              <a:t>How Gates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1. Each role file defines ## Required Outputs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2. On transition, system checks files exist on disk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3. Missing files → transition blocked with clear error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4. Bypass requires gcp_consent + force=true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5. All bypasses are recorded as deviations in state.json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Deterministic enforcement — not prose suggestions.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The LLM cannot skip what the code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Cleanly separating what can be computed from what requires judgment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31920" cy="41148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DETERMINISTIC  (MCP / 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Can I transition?  →  Yes / No  (transition matrix)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Are required outputs present?  →  True / False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What role am I in?  →  state.json lookup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Record a deviation  →  append to deviations[]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  <a:latin typeface="Segoe UI"/>
              </a:defRPr>
            </a:pPr>
            <a:r>
              <a:t>Testable  •  Predictable  •  Auditable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3931920" cy="41148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NON-DETERMINISTIC  (Copilot / LLM)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103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Write the user story  →  creative output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Implement the feature  →  code generation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Review this design  →  judgment call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Explain why this failed  → 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757D"/>
                </a:solidFill>
                <a:latin typeface="Segoe UI"/>
              </a:defRPr>
            </a:pPr>
            <a:r>
              <a:t>Creative  •  Contextual  •  Nuanced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931920"/>
            <a:ext cx="50292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SPINE  (copilot-instructions.md + role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Points to role files  •  Coding standards  •  Artifact paths  •  MCP tool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Segoe UI"/>
              </a:defRPr>
            </a:pPr>
            <a:r>
              <a:t>Result: Soft guidance for how to do things well  +  Hard enforcement for when things can happen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