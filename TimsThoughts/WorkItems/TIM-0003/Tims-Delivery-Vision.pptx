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673B-8F15-0EFC-30D8-5E4DDAAAF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59859-90BF-7245-4297-A5BEA77DB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5AD5E-1DEF-1E55-548C-DAE1B12C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63623-67FA-06BC-960A-33FF7F40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7A94-6ACC-F182-5699-5D4A1348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AE93-31A5-B510-F2EE-AC18EA39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B2AD-85AD-7A6C-6304-755EC2BF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01C9-CE78-A19F-52BB-1D894145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AB9DC-9D3E-6267-032C-B1901729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4D99B-2813-4E94-D01E-0CC292C9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6E391-40B6-B87F-1977-8C011760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3D282-C091-3E1D-2464-54FA70C5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859E-A15C-2354-309E-B4F47942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D64DC-F6F1-DD9C-8074-64FCEE53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9761D-42BE-2FB0-A015-23CF40A2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3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DFFC-F750-F692-5649-1C2477F8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C712-58CE-813D-7ACD-E23920C22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6A5A6-FED1-ECDF-61A5-7C5E6C702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B7ED4-4D78-9EAC-5FDD-2551B0C4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2D08-A52F-D4BD-42A2-718FE1AC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1DF58-0CA3-D7B1-FCCE-B0E10E29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7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2EE9-71D1-F463-C385-7B5D523B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113EA-D928-F7B3-4381-BF5DC3A41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5429D-ACDC-946A-3BEB-A706574BA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A4396-6F37-D40B-E128-93386FE52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1B6EB-BDD5-D3B1-C436-7218D329E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38686F-D116-C2F9-17F7-4AF015E4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1B7D3-B5FB-1BC6-46C8-DCC34523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3C83F-6482-95E1-526F-AFBDD88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6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432C-83AB-C8E5-1976-743F8302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C59D0-4AB6-1D1E-6C33-58335C35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1F95C-759E-7AC7-9A61-5B845B50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05256-8FD6-9B86-51B3-1D49F51A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ABF91-E14F-E638-7D87-6F8A3CC3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893A7-90C0-5D6B-714F-702E65D3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4168-6F3F-BCD1-44A8-931FAF59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9215-4E55-5A2B-3851-7F8210B4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94AB-C80B-0F1D-F49B-4C01A1F6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CB40-B2C9-47B0-6B5B-83435033D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1D413-9397-E31F-59D8-969534D2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9A14A-CD78-E120-C230-D28A7C9F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6B956-0287-8E60-35E7-DBCA0EB2F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2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BD4E-1B2E-50F2-2A65-E4834E1F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9D55C-D533-82A4-8FD2-2A3633E0C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77F50-E3E0-3486-A1FD-56725B859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CD22-097B-6A09-AF97-4E6C4AEB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D187D-DE36-A6A2-87A7-71FA7FF6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29217-55D8-258F-F628-2ED25C40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8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A8AF-EA6A-E4D9-453C-EACC2CD2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865A2-7819-4ACF-1267-E7AFB0FB5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4515A-CBD6-6CE0-E0A1-5BF8F050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EA457-2CE5-CA80-C53B-43369639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E618-768A-3CAF-C401-86F6F99E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5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F5910-97F7-1283-5397-D5724DAF3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4226D-E0BA-C173-8473-E1B386E9D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A1F44-1F1F-A27E-7558-E84F82A4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C294D-F7B7-9F60-9DB0-8BF620FD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E40D7-46FA-99FF-85E4-07953732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35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5224-3B11-B09D-B346-2249BCC9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2B8C3-E794-3B11-2BF5-B0BC4A424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859E2-31FF-2F4F-C393-ED27D4E3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AE95-9FD4-B8EF-A861-3FFC1BC6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65C93-1B67-9804-987E-B231808E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1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9F847-6590-94BA-EB47-08C41A45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963A0-B88F-AF8F-57E7-3E40A51F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B43E-9107-787C-C68E-3642E3CCE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8EF32-1F96-45EB-9F09-E61FD6B9A0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54995-B4F0-8936-9B64-7578EA1E8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CCD30-44F3-CC93-93A0-3793836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B9A9A-EF70-42C5-B82C-C64548014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1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7FCF-5BE8-78A7-0DB4-E7F8758B7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Understanding Tim's Delivery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990BA-B0F5-73F9-FF32-E40A48A18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Review of the Five-Document Corpus | April 2026</a:t>
            </a:r>
          </a:p>
        </p:txBody>
      </p:sp>
    </p:spTree>
    <p:extLst>
      <p:ext uri="{BB962C8B-B14F-4D97-AF65-F5344CB8AC3E}">
        <p14:creationId xmlns:p14="http://schemas.microsoft.com/office/powerpoint/2010/main" val="2318353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C46F-A66B-EEF5-7239-3C3695BD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Big Idea: Five Documents, One Argument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760E6-80CE-B1C2-C0DF-30F2FDA8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Across five documents, Tim argues that delivery capability is now existential — not optional, not incremental.</a:t>
            </a:r>
          </a:p>
          <a:p>
            <a:r>
              <a:rPr lang="en-US"/>
              <a:t>Organizations that cannot deliver continuously, safely, and at scale will lose: to AI-native competitors, to regulatory risk, and to customer defection.</a:t>
            </a:r>
          </a:p>
          <a:p>
            <a:endParaRPr lang="en-US"/>
          </a:p>
          <a:p>
            <a:r>
              <a:rPr lang="en-US"/>
              <a:t>The corpus builds a coherent, layered operating model:</a:t>
            </a:r>
          </a:p>
          <a:p>
            <a:r>
              <a:rPr lang="en-US"/>
              <a:t>   Small accountable mission teams — not large diffuse organizations</a:t>
            </a:r>
          </a:p>
          <a:p>
            <a:r>
              <a:rPr lang="en-US"/>
              <a:t>   Infinite-game mindset — steel threads, product thinking, no finish line</a:t>
            </a:r>
          </a:p>
          <a:p>
            <a:r>
              <a:rPr lang="en-US"/>
              <a:t>   Synchronized cross-functional effort — Harambee: all pull together</a:t>
            </a:r>
          </a:p>
          <a:p>
            <a:r>
              <a:rPr lang="en-US"/>
              <a:t>   Senior leaders who create clarity and maintain execution proximity</a:t>
            </a:r>
          </a:p>
          <a:p>
            <a:endParaRPr lang="en-US"/>
          </a:p>
          <a:p>
            <a:r>
              <a:rPr lang="en-US"/>
              <a:t>This is both a diagnosis of why we are failing and a prescription for how to operate differently.</a:t>
            </a:r>
          </a:p>
        </p:txBody>
      </p:sp>
    </p:spTree>
    <p:extLst>
      <p:ext uri="{BB962C8B-B14F-4D97-AF65-F5344CB8AC3E}">
        <p14:creationId xmlns:p14="http://schemas.microsoft.com/office/powerpoint/2010/main" val="340602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337A-0BA5-FE50-B472-6D7A208B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Five Documents Connect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F6642-34D2-8F85-67C5-51C38A453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The five documents form a progression from urgency to full operating model:</a:t>
            </a:r>
          </a:p>
          <a:p>
            <a:endParaRPr lang="en-US"/>
          </a:p>
          <a:p>
            <a:r>
              <a:rPr lang="en-US"/>
              <a:t>1.  Delivery is Existential          WHY delivery matters now  (the urgency case)</a:t>
            </a:r>
          </a:p>
          <a:p>
            <a:r>
              <a:rPr lang="en-US"/>
              <a:t>2.  The Delivery Manifesto           HOW we will operate       (the operating contract)</a:t>
            </a:r>
          </a:p>
          <a:p>
            <a:r>
              <a:rPr lang="en-US"/>
              <a:t>3.  Delivery as an Infinite Game     WHAT game we are playing  (the mindset shift)</a:t>
            </a:r>
          </a:p>
          <a:p>
            <a:r>
              <a:rPr lang="en-US"/>
              <a:t>4.  Harambee and Mission Teams       WHO executes and how      (the team model)</a:t>
            </a:r>
          </a:p>
          <a:p>
            <a:r>
              <a:rPr lang="en-US"/>
              <a:t>5.  Role of the Senior IC Leader     WHO leads and how         (the leadership model)</a:t>
            </a:r>
          </a:p>
          <a:p>
            <a:endParaRPr lang="en-US"/>
          </a:p>
          <a:p>
            <a:r>
              <a:rPr lang="en-US"/>
              <a:t>Read together, they describe a complete system — not a collection of independent ideas.</a:t>
            </a:r>
          </a:p>
        </p:txBody>
      </p:sp>
    </p:spTree>
    <p:extLst>
      <p:ext uri="{BB962C8B-B14F-4D97-AF65-F5344CB8AC3E}">
        <p14:creationId xmlns:p14="http://schemas.microsoft.com/office/powerpoint/2010/main" val="128949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6141-5BC3-9552-F33B-8CB71CA88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Documents at a Glance: Problem  -&gt; 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D2F6B-139B-E427-C7C4-78A68F706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/>
              <a:t>Delivery is Existential</a:t>
            </a:r>
          </a:p>
          <a:p>
            <a:r>
              <a:rPr lang="en-US"/>
              <a:t>   Problem: Slow delivery = existential risk; activity rewarded over outcomes</a:t>
            </a:r>
          </a:p>
          <a:p>
            <a:r>
              <a:rPr lang="en-US"/>
              <a:t>   Solution: Small teams, earned headcount, outcome metrics</a:t>
            </a:r>
          </a:p>
          <a:p>
            <a:endParaRPr lang="en-US"/>
          </a:p>
          <a:p>
            <a:r>
              <a:rPr lang="en-US"/>
              <a:t>The Delivery Manifesto</a:t>
            </a:r>
          </a:p>
          <a:p>
            <a:r>
              <a:rPr lang="en-US"/>
              <a:t>   Problem: Accountability diffusion; no single plan; quality gated out at the end</a:t>
            </a:r>
          </a:p>
          <a:p>
            <a:r>
              <a:rPr lang="en-US"/>
              <a:t>   Solution: Named leads, one plan of record, weekly proof gates</a:t>
            </a:r>
          </a:p>
          <a:p>
            <a:endParaRPr lang="en-US"/>
          </a:p>
          <a:p>
            <a:r>
              <a:rPr lang="en-US"/>
              <a:t>Delivery as Infinite Game</a:t>
            </a:r>
          </a:p>
          <a:p>
            <a:r>
              <a:rPr lang="en-US"/>
              <a:t>   Problem: Finite mechanics applied to infinite systems — cloud, AI, compliance</a:t>
            </a:r>
          </a:p>
          <a:p>
            <a:r>
              <a:rPr lang="en-US"/>
              <a:t>   Solution: Steel threads, product thinking, durable team charters</a:t>
            </a:r>
          </a:p>
          <a:p>
            <a:endParaRPr lang="en-US"/>
          </a:p>
          <a:p>
            <a:r>
              <a:rPr lang="en-US"/>
              <a:t>Harambee and Mission Teams</a:t>
            </a:r>
          </a:p>
          <a:p>
            <a:r>
              <a:rPr lang="en-US"/>
              <a:t>   Problem: Local optimization destroys systemic velocity; late dependency discovery</a:t>
            </a:r>
          </a:p>
          <a:p>
            <a:r>
              <a:rPr lang="en-US"/>
              <a:t>   Solution: Explicit mission/scope/metrics per team; composition by default</a:t>
            </a:r>
          </a:p>
          <a:p>
            <a:endParaRPr lang="en-US"/>
          </a:p>
          <a:p>
            <a:r>
              <a:rPr lang="en-US"/>
              <a:t>Senior IC Leader</a:t>
            </a:r>
          </a:p>
          <a:p>
            <a:r>
              <a:rPr lang="en-US"/>
              <a:t>   Problem: Leaders too abstract or too local; clarity never produced</a:t>
            </a:r>
          </a:p>
          <a:p>
            <a:r>
              <a:rPr lang="en-US"/>
              <a:t>   Solution: Two-hat leadership — IC depth + leader judgment; hands-on proximity</a:t>
            </a:r>
          </a:p>
        </p:txBody>
      </p:sp>
    </p:spTree>
    <p:extLst>
      <p:ext uri="{BB962C8B-B14F-4D97-AF65-F5344CB8AC3E}">
        <p14:creationId xmlns:p14="http://schemas.microsoft.com/office/powerpoint/2010/main" val="426429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08E5-53E6-9F14-0346-8BC3C9563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Delivery is Existential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00F2B-97A0-9306-C066-4D368432E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Urgency Case — Why Delivery Is No Longer Optional</a:t>
            </a:r>
          </a:p>
        </p:txBody>
      </p:sp>
    </p:spTree>
    <p:extLst>
      <p:ext uri="{BB962C8B-B14F-4D97-AF65-F5344CB8AC3E}">
        <p14:creationId xmlns:p14="http://schemas.microsoft.com/office/powerpoint/2010/main" val="348007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8716-83CE-DD7A-C4C0-1E8DE754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is Existential: What Tim Wants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AA5B8-81D6-B13C-0391-0AABB9528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Startup-like execution culture inside the enterprise — urgency and ownership, not bureaucracy</a:t>
            </a:r>
          </a:p>
          <a:p>
            <a:r>
              <a:rPr lang="en-US"/>
              <a:t>Outcomes and velocity prioritized over effort signals, status reporting, and activity</a:t>
            </a:r>
          </a:p>
          <a:p>
            <a:r>
              <a:rPr lang="en-US"/>
              <a:t>Small, accountable teams with earned headcount — growth tied to demonstrated throughput improvement</a:t>
            </a:r>
          </a:p>
          <a:p>
            <a:r>
              <a:rPr lang="en-US"/>
              <a:t>AI adoption as a productivity multiplier embedded across the full PM-Dev-Quality-Ops chain</a:t>
            </a:r>
          </a:p>
          <a:p>
            <a:r>
              <a:rPr lang="en-US"/>
              <a:t>Business and platform results as the unit of success — not headcount, not meetings, not reports</a:t>
            </a:r>
          </a:p>
          <a:p>
            <a:r>
              <a:rPr lang="en-US"/>
              <a:t>Leadership that changes how we operate, what we measure, and what we incent and reward</a:t>
            </a:r>
          </a:p>
        </p:txBody>
      </p:sp>
    </p:spTree>
    <p:extLst>
      <p:ext uri="{BB962C8B-B14F-4D97-AF65-F5344CB8AC3E}">
        <p14:creationId xmlns:p14="http://schemas.microsoft.com/office/powerpoint/2010/main" val="413488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EAFC-5816-F24F-276B-CC3D3C4B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is Existential: Why He Wants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DC14A-D249-0365-7A81-E2E9EF280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AI disruption is changing the competitive landscape — organizations that deliver slower lose permanently</a:t>
            </a:r>
          </a:p>
          <a:p>
            <a:r>
              <a:rPr lang="en-US"/>
              <a:t>Regulatory and sovereign cloud shifts (EU, SFI/QEI, Middle East) add compliance urgency on top of delivery urgency</a:t>
            </a:r>
          </a:p>
          <a:p>
            <a:r>
              <a:rPr lang="en-US"/>
              <a:t>Large diffuse teams hide accountability gaps — no one is responsible when everyone is responsible</a:t>
            </a:r>
          </a:p>
          <a:p>
            <a:r>
              <a:rPr lang="en-US"/>
              <a:t>The organization systemically rewards activity signals (reports, reviews, meetings), not material outcomes</a:t>
            </a:r>
          </a:p>
          <a:p>
            <a:r>
              <a:rPr lang="en-US"/>
              <a:t>Headcount grows as the default response to delivery problems — this makes problems worse, not better</a:t>
            </a:r>
          </a:p>
          <a:p>
            <a:r>
              <a:rPr lang="en-US"/>
              <a:t>Survival in the AI era requires the ability to deliver continuously, safely, and at hyperscale</a:t>
            </a:r>
          </a:p>
        </p:txBody>
      </p:sp>
    </p:spTree>
    <p:extLst>
      <p:ext uri="{BB962C8B-B14F-4D97-AF65-F5344CB8AC3E}">
        <p14:creationId xmlns:p14="http://schemas.microsoft.com/office/powerpoint/2010/main" val="208038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42863-C37C-63E9-B018-C55DB9CF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is Existential: Observed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603DA-F7BD-ED3E-B787-573947836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Teams report activity — meetings held, reviews conducted, slides produced — rather than shipping outcomes</a:t>
            </a:r>
          </a:p>
          <a:p>
            <a:r>
              <a:rPr lang="en-US"/>
              <a:t>Accountability diffuses across large teams; no single person owns the result when it fails</a:t>
            </a:r>
          </a:p>
          <a:p>
            <a:r>
              <a:rPr lang="en-US"/>
              <a:t>Headcount grows without corresponding improvement in throughput or quality</a:t>
            </a:r>
          </a:p>
          <a:p>
            <a:r>
              <a:rPr lang="en-US"/>
              <a:t>AI tools are available but are not embedded systematically in the delivery and quality workflow</a:t>
            </a:r>
          </a:p>
          <a:p>
            <a:r>
              <a:rPr lang="en-US"/>
              <a:t>Planning cycles generate artifact decks instead of working, deployed, and measured software</a:t>
            </a:r>
          </a:p>
          <a:p>
            <a:r>
              <a:rPr lang="en-US"/>
              <a:t>Delivery is treated as a trailing indicator reviewed quarterly, not a real-time survival variable</a:t>
            </a:r>
          </a:p>
        </p:txBody>
      </p:sp>
    </p:spTree>
    <p:extLst>
      <p:ext uri="{BB962C8B-B14F-4D97-AF65-F5344CB8AC3E}">
        <p14:creationId xmlns:p14="http://schemas.microsoft.com/office/powerpoint/2010/main" val="31491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B607-7EE3-2706-871F-3C4BB9E7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is Existential: 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EB747-26CA-9752-D1A5-DFB939CE1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Small focused teams accountable for clearly bounded missions — conceptual integrity at team level</a:t>
            </a:r>
          </a:p>
          <a:p>
            <a:r>
              <a:rPr lang="en-US"/>
              <a:t>Earned headcount: growth tied to demonstrated throughput and quality improvement, not org requests</a:t>
            </a:r>
          </a:p>
          <a:p>
            <a:r>
              <a:rPr lang="en-US"/>
              <a:t>Replace effort metrics with outcome and velocity metrics — ship it, measure it, improve it</a:t>
            </a:r>
          </a:p>
          <a:p>
            <a:r>
              <a:rPr lang="en-US"/>
              <a:t>Embed AI across PM-Dev-Quality-Ops to remove toil and continuously raise the quality bar</a:t>
            </a:r>
          </a:p>
          <a:p>
            <a:r>
              <a:rPr lang="en-US"/>
              <a:t>Treat delivery speed as a competitive survival variable — not a lagging indicator</a:t>
            </a:r>
          </a:p>
          <a:p>
            <a:r>
              <a:rPr lang="en-US"/>
              <a:t>Fundamentally change what we operate, what we measure, and what we incent and reward</a:t>
            </a:r>
          </a:p>
        </p:txBody>
      </p:sp>
    </p:spTree>
    <p:extLst>
      <p:ext uri="{BB962C8B-B14F-4D97-AF65-F5344CB8AC3E}">
        <p14:creationId xmlns:p14="http://schemas.microsoft.com/office/powerpoint/2010/main" val="1676531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A1EF-9A84-368B-55BA-BBAA072F8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Delivery Manifesto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B4CDB-2C24-750A-E3D8-FF7327F55E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Operating Contract — How We Will Work</a:t>
            </a:r>
          </a:p>
        </p:txBody>
      </p:sp>
    </p:spTree>
    <p:extLst>
      <p:ext uri="{BB962C8B-B14F-4D97-AF65-F5344CB8AC3E}">
        <p14:creationId xmlns:p14="http://schemas.microsoft.com/office/powerpoint/2010/main" val="256713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FE69-CA51-184A-B375-90BD2B0D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Delivery Manifesto: What Tim Wants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87A87-C18B-A012-511E-8F0B99F96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Explicit accountability: named accountable lead per mission team — not 'the team' owns it</a:t>
            </a:r>
          </a:p>
          <a:p>
            <a:r>
              <a:rPr lang="en-US"/>
              <a:t>Meritocracy of contribution: what you deliver matters, not your role, tenure, or title</a:t>
            </a:r>
          </a:p>
          <a:p>
            <a:r>
              <a:rPr lang="en-US"/>
              <a:t>Open repositories and cross-team direct contribution — not escalation — as the default mechanism</a:t>
            </a:r>
          </a:p>
          <a:p>
            <a:r>
              <a:rPr lang="en-US"/>
              <a:t>Weekly proof of progress: capability delivered, reliability improved, risk retired, integration completed</a:t>
            </a:r>
          </a:p>
          <a:p>
            <a:r>
              <a:rPr lang="en-US"/>
              <a:t>Single plan of record: one visible execution plan per team with commitments, dates, dependencies, named leads</a:t>
            </a:r>
          </a:p>
          <a:p>
            <a:r>
              <a:rPr lang="en-US"/>
              <a:t>Clean escalation as a leadership discipline — silence is failure; escalation is leadership</a:t>
            </a:r>
          </a:p>
        </p:txBody>
      </p:sp>
    </p:spTree>
    <p:extLst>
      <p:ext uri="{BB962C8B-B14F-4D97-AF65-F5344CB8AC3E}">
        <p14:creationId xmlns:p14="http://schemas.microsoft.com/office/powerpoint/2010/main" val="194971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33F2-7B94-AE30-29EC-B226324B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Delivery Manifesto: Why He Wants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474F9-90EB-20DF-6F53-0061B384A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Scale creates entropy — without explicit operating contracts, accountability diffuses into the organization</a:t>
            </a:r>
          </a:p>
          <a:p>
            <a:r>
              <a:rPr lang="en-US"/>
              <a:t>Multiple competing plans = nobody is accountable for the actual plan that matters</a:t>
            </a:r>
          </a:p>
          <a:p>
            <a:r>
              <a:rPr lang="en-US"/>
              <a:t>Silent blockers kill more deliveries than technical problems — escalation is not weakness</a:t>
            </a:r>
          </a:p>
          <a:p>
            <a:r>
              <a:rPr lang="en-US"/>
              <a:t>'Ownership' language without explicit accountability is performance theater — it changes nothing</a:t>
            </a:r>
          </a:p>
          <a:p>
            <a:r>
              <a:rPr lang="en-US"/>
              <a:t>Large organizations systemically reward plan-generation over plan-execution — the manifesto counters this</a:t>
            </a:r>
          </a:p>
          <a:p>
            <a:r>
              <a:rPr lang="en-US"/>
              <a:t>Quality, security, and compliance pushed to the end as gates are how technical debt becomes existential debt</a:t>
            </a:r>
          </a:p>
        </p:txBody>
      </p:sp>
    </p:spTree>
    <p:extLst>
      <p:ext uri="{BB962C8B-B14F-4D97-AF65-F5344CB8AC3E}">
        <p14:creationId xmlns:p14="http://schemas.microsoft.com/office/powerpoint/2010/main" val="3178184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5590-0619-44DF-E4DA-116F2290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Delivery Manifesto: Observed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ECBB7-805B-A1E7-CE02-ABD2D2FE1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Teams maintain multiple informal plans — no single source of truth; plans serve different audiences</a:t>
            </a:r>
          </a:p>
          <a:p>
            <a:r>
              <a:rPr lang="en-US"/>
              <a:t>Blockers go unreported until they become crises — safety-motivated silence treated as professionalism</a:t>
            </a:r>
          </a:p>
          <a:p>
            <a:r>
              <a:rPr lang="en-US"/>
              <a:t>'Ownership' claimed without real scope authority or decision rights to back it up</a:t>
            </a:r>
          </a:p>
          <a:p>
            <a:r>
              <a:rPr lang="en-US"/>
              <a:t>Quality and compliance treated as final delivery gates, not continuous disciplines woven into execution</a:t>
            </a:r>
          </a:p>
          <a:p>
            <a:r>
              <a:rPr lang="en-US"/>
              <a:t>AI not yet embedded as standard practice — used as an experiment or optional add-on</a:t>
            </a:r>
          </a:p>
          <a:p>
            <a:r>
              <a:rPr lang="en-US"/>
              <a:t>Narrative without material evidence accepted as 'progress' in reviews and check-ins</a:t>
            </a:r>
          </a:p>
        </p:txBody>
      </p:sp>
    </p:spTree>
    <p:extLst>
      <p:ext uri="{BB962C8B-B14F-4D97-AF65-F5344CB8AC3E}">
        <p14:creationId xmlns:p14="http://schemas.microsoft.com/office/powerpoint/2010/main" val="9331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085C-EC5F-4384-5949-E0EC6842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Delivery Manifesto: 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0DBBB-C45E-2877-AD2F-CFE66248F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Nine-principle operating contract: accountability, mission teams, composition, meritocracy, toil reduction,</a:t>
            </a:r>
          </a:p>
          <a:p>
            <a:r>
              <a:rPr lang="en-US"/>
              <a:t>   standards/reuse, AI productivity, living artifacts, execution rhythms</a:t>
            </a:r>
          </a:p>
          <a:p>
            <a:r>
              <a:rPr lang="en-US"/>
              <a:t>Weekly proof gates: evidence required — capability | reliability | risk retired | integration | gate cleared</a:t>
            </a:r>
          </a:p>
          <a:p>
            <a:r>
              <a:rPr lang="en-US"/>
              <a:t>One plan of record: commitments, dates, dependencies, named accountable parties — visible to all</a:t>
            </a:r>
          </a:p>
          <a:p>
            <a:r>
              <a:rPr lang="en-US"/>
              <a:t>Clean escalation protocol: state the blocker + impact + what was tried + decision needed + time sensitivity</a:t>
            </a:r>
          </a:p>
          <a:p>
            <a:r>
              <a:rPr lang="en-US"/>
              <a:t>Failed quality gates stop forward motion — issues addressed at the source, never pushed downstream</a:t>
            </a:r>
          </a:p>
          <a:p>
            <a:r>
              <a:rPr lang="en-US"/>
              <a:t>Silence is failure. Escalation is leadership.</a:t>
            </a:r>
          </a:p>
        </p:txBody>
      </p:sp>
    </p:spTree>
    <p:extLst>
      <p:ext uri="{BB962C8B-B14F-4D97-AF65-F5344CB8AC3E}">
        <p14:creationId xmlns:p14="http://schemas.microsoft.com/office/powerpoint/2010/main" val="97394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AAB4-943A-E138-6A46-C7B0F9F67C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Delivery as an Infinite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79A64-1FAE-47A6-A6E9-DCE9E8712C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Mindset Shift — What Kind of Game Are We Actually Playing?</a:t>
            </a:r>
          </a:p>
        </p:txBody>
      </p:sp>
    </p:spTree>
    <p:extLst>
      <p:ext uri="{BB962C8B-B14F-4D97-AF65-F5344CB8AC3E}">
        <p14:creationId xmlns:p14="http://schemas.microsoft.com/office/powerpoint/2010/main" val="2788495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78FC-D547-4BB0-0B78-FE184798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as Infinite Game: What Tim Wants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D3A13-BA80-C54D-F315-D0AE97C9D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Infinite-game orientation: no finish line, continuous improvement — 'done' is not a destination</a:t>
            </a:r>
          </a:p>
          <a:p>
            <a:r>
              <a:rPr lang="en-US"/>
              <a:t>Just Cause: be the most reliable, enterprise-grade, AI-ready hyperscale cloud — now and always</a:t>
            </a:r>
          </a:p>
          <a:p>
            <a:r>
              <a:rPr lang="en-US"/>
              <a:t>Steel threads: durable, continuously exercised value streams that run end-to-end across domains</a:t>
            </a:r>
          </a:p>
          <a:p>
            <a:r>
              <a:rPr lang="en-US"/>
              <a:t>Product thinking as an operating discipline — not a role, not a phase, not a handoff</a:t>
            </a:r>
          </a:p>
          <a:p>
            <a:r>
              <a:rPr lang="en-US"/>
              <a:t>PM as force multiplier and clarity engine — not a backlog operator</a:t>
            </a:r>
          </a:p>
          <a:p>
            <a:r>
              <a:rPr lang="en-US"/>
              <a:t>Program management as integrator — maintaining coherence across steel threads as the org scales</a:t>
            </a:r>
          </a:p>
        </p:txBody>
      </p:sp>
    </p:spTree>
    <p:extLst>
      <p:ext uri="{BB962C8B-B14F-4D97-AF65-F5344CB8AC3E}">
        <p14:creationId xmlns:p14="http://schemas.microsoft.com/office/powerpoint/2010/main" val="4181615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3947-BE6A-43A9-96AD-62252B53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as Infinite Game: Why He Wants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FF98C-10FB-889E-7D6E-9D6F396C4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Digital/AI platforms do not stabilize after delivery — they live in production permanently</a:t>
            </a:r>
          </a:p>
          <a:p>
            <a:r>
              <a:rPr lang="en-US"/>
              <a:t>Regulations shift, capacity needs evolve, threat models change — the environment never stops moving</a:t>
            </a:r>
          </a:p>
          <a:p>
            <a:r>
              <a:rPr lang="en-US"/>
              <a:t>Finite mechanics (projects, temp teams, fixed scope) create organizational fragility in infinite systems</a:t>
            </a:r>
          </a:p>
          <a:p>
            <a:r>
              <a:rPr lang="en-US"/>
              <a:t>Finite-game thinking means winning locally while losing systemically — the death move for a platform org</a:t>
            </a:r>
          </a:p>
          <a:p>
            <a:r>
              <a:rPr lang="en-US"/>
              <a:t>Trust is an engineering input: without it, teams hoard work, avoid surfacing risk, create brittle systems</a:t>
            </a:r>
          </a:p>
          <a:p>
            <a:r>
              <a:rPr lang="en-US"/>
              <a:t>Models drift. Interfaces evolve. Threats adapt. Projects end. Products — and steel threads — endure.</a:t>
            </a:r>
          </a:p>
        </p:txBody>
      </p:sp>
    </p:spTree>
    <p:extLst>
      <p:ext uri="{BB962C8B-B14F-4D97-AF65-F5344CB8AC3E}">
        <p14:creationId xmlns:p14="http://schemas.microsoft.com/office/powerpoint/2010/main" val="398385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58B5-344C-4134-7C43-FDA64DF4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as Infinite Game: Observed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72C7E-E6E5-AC09-FB41-F2762D3D8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Delivery managed as a series of projects — each one resets context, teams, and accountability</a:t>
            </a:r>
          </a:p>
          <a:p>
            <a:r>
              <a:rPr lang="en-US"/>
              <a:t>Product management treated as a backlog operator or traffic controller, not a strategic clarity engine</a:t>
            </a:r>
          </a:p>
          <a:p>
            <a:r>
              <a:rPr lang="en-US"/>
              <a:t>Compliance and quality declared 'done' at milestones rather than demonstrated continuously</a:t>
            </a:r>
          </a:p>
          <a:p>
            <a:r>
              <a:rPr lang="en-US"/>
              <a:t>No language of steel threads or durable ownership — every execution cycle starts over</a:t>
            </a:r>
          </a:p>
          <a:p>
            <a:r>
              <a:rPr lang="en-US"/>
              <a:t>PM and program management roles treated as coordination overhead, not strategic organizational inputs</a:t>
            </a:r>
          </a:p>
          <a:p>
            <a:r>
              <a:rPr lang="en-US"/>
              <a:t>Success defined as 'shipped it once' — not 'the system is healthier than last quarter'</a:t>
            </a:r>
          </a:p>
        </p:txBody>
      </p:sp>
    </p:spTree>
    <p:extLst>
      <p:ext uri="{BB962C8B-B14F-4D97-AF65-F5344CB8AC3E}">
        <p14:creationId xmlns:p14="http://schemas.microsoft.com/office/powerpoint/2010/main" val="3295692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7EE5-D76D-40C7-C2C1-D749A387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as Infinite Game: 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9E001-8E8E-EEF3-3FDA-5C5B4C6B0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Shift from project to product thinking: steel threads replace project milestones as the primary unit</a:t>
            </a:r>
          </a:p>
          <a:p>
            <a:r>
              <a:rPr lang="en-US"/>
              <a:t>Primary steel thread = the service (continuous, durable, unambiguous)</a:t>
            </a:r>
          </a:p>
          <a:p>
            <a:r>
              <a:rPr lang="en-US"/>
              <a:t>Supporting steel threads = engineering systems, compliance posture, change mgmt, capacity lifecycle</a:t>
            </a:r>
          </a:p>
          <a:p>
            <a:r>
              <a:rPr lang="en-US"/>
              <a:t>Product thinking creates north stars, explicit tradeoffs, and health signals — not just backlogs</a:t>
            </a:r>
          </a:p>
          <a:p>
            <a:r>
              <a:rPr lang="en-US"/>
              <a:t>Program management as integrator: coherence across steel threads as the organization scales</a:t>
            </a:r>
          </a:p>
          <a:p>
            <a:r>
              <a:rPr lang="en-US"/>
              <a:t>Each execution cycle is finite. The game is infinite. Design and operate accordingly.</a:t>
            </a:r>
          </a:p>
        </p:txBody>
      </p:sp>
    </p:spTree>
    <p:extLst>
      <p:ext uri="{BB962C8B-B14F-4D97-AF65-F5344CB8AC3E}">
        <p14:creationId xmlns:p14="http://schemas.microsoft.com/office/powerpoint/2010/main" val="291204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D9D4-8E69-BE43-46D2-54DFD4FB7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Harambee and Mission Teams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A87C0-ABBC-7B3C-2932-90F7311CF0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Team Model — Who Executes and How</a:t>
            </a:r>
          </a:p>
        </p:txBody>
      </p:sp>
    </p:spTree>
    <p:extLst>
      <p:ext uri="{BB962C8B-B14F-4D97-AF65-F5344CB8AC3E}">
        <p14:creationId xmlns:p14="http://schemas.microsoft.com/office/powerpoint/2010/main" val="1843997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8827-DB55-7852-E034-9EAA254E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Harambee and Mission Teams: What Tim Wants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6EC1C-914F-D678-A165-356315BE5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Harambee: 'all pull together' — synchronized force toward a shared goal, not informal alignment</a:t>
            </a:r>
          </a:p>
          <a:p>
            <a:r>
              <a:rPr lang="en-US"/>
              <a:t>Every mission team has: named accountable lead | articulated mission and scope | explicit success metrics</a:t>
            </a:r>
          </a:p>
          <a:p>
            <a:r>
              <a:rPr lang="en-US"/>
              <a:t>   | defined interfaces to other teams | known dependencies and integration points</a:t>
            </a:r>
          </a:p>
          <a:p>
            <a:r>
              <a:rPr lang="en-US"/>
              <a:t>Dependencies surfaced early and managed deliberately — not discovered at integration</a:t>
            </a:r>
          </a:p>
          <a:p>
            <a:r>
              <a:rPr lang="en-US"/>
              <a:t>Direct cross-team contribution as the default — not escalation as the first move</a:t>
            </a:r>
          </a:p>
          <a:p>
            <a:r>
              <a:rPr lang="en-US"/>
              <a:t>Open repos with merit-based contributions and clear maintainers — scale quality and velocity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901979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2F11-103B-37AC-8CB4-1B1136F0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Harambee and Mission Teams: Why He Wants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193E1-F623-1469-F53D-D267064FE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Interconnected systems are destroyed by local optimization — your team's win becomes my team's blocker</a:t>
            </a:r>
          </a:p>
          <a:p>
            <a:r>
              <a:rPr lang="en-US"/>
              <a:t>Informal alignment is not enough at scale — it creates coordination surprises at the worst moments</a:t>
            </a:r>
          </a:p>
          <a:p>
            <a:r>
              <a:rPr lang="en-US"/>
              <a:t>Late dependency discovery is the most common avoidable cause of delivery delays</a:t>
            </a:r>
          </a:p>
          <a:p>
            <a:r>
              <a:rPr lang="en-US"/>
              <a:t>Escalation as the default cross-team mechanism is too slow and creates organizational bottlenecks</a:t>
            </a:r>
          </a:p>
          <a:p>
            <a:r>
              <a:rPr lang="en-US"/>
              <a:t>Accountability for outcomes requires visible scope, explicit success criteria, and a named human</a:t>
            </a:r>
          </a:p>
          <a:p>
            <a:r>
              <a:rPr lang="en-US"/>
              <a:t>The fastest path to delivery is often direct contribution — not a meeting, not a ticket, not an escalation</a:t>
            </a:r>
          </a:p>
        </p:txBody>
      </p:sp>
    </p:spTree>
    <p:extLst>
      <p:ext uri="{BB962C8B-B14F-4D97-AF65-F5344CB8AC3E}">
        <p14:creationId xmlns:p14="http://schemas.microsoft.com/office/powerpoint/2010/main" val="4280126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0225-9F5B-28FD-C074-04C5696E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Harambee and Mission Teams: Observed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0181C-C221-300A-7072-CECA77E45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Teams optimize for their own velocity while creating systemic drag for adjacent and dependent teams</a:t>
            </a:r>
          </a:p>
          <a:p>
            <a:r>
              <a:rPr lang="en-US"/>
              <a:t>Dependencies discovered at integration time rather than at design and planning time</a:t>
            </a:r>
          </a:p>
          <a:p>
            <a:r>
              <a:rPr lang="en-US"/>
              <a:t>Escalation used as the default cross-team mechanism — slow, bottlenecked, and accountability-destroying</a:t>
            </a:r>
          </a:p>
          <a:p>
            <a:r>
              <a:rPr lang="en-US"/>
              <a:t>No consistent standard for what 'a mission team' means: scope, accountability, and interfaces vary widely</a:t>
            </a:r>
          </a:p>
          <a:p>
            <a:r>
              <a:rPr lang="en-US"/>
              <a:t>Repos closed by default; contribution requires relationships rather than quality standards</a:t>
            </a:r>
          </a:p>
          <a:p>
            <a:r>
              <a:rPr lang="en-US"/>
              <a:t>Composition treated as an optional design choice rather than the default execution expectation</a:t>
            </a:r>
          </a:p>
        </p:txBody>
      </p:sp>
    </p:spTree>
    <p:extLst>
      <p:ext uri="{BB962C8B-B14F-4D97-AF65-F5344CB8AC3E}">
        <p14:creationId xmlns:p14="http://schemas.microsoft.com/office/powerpoint/2010/main" val="1592124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72D5-B8E3-204E-7EB0-D910AEE5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Harambee and Mission Teams: 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A9A6-DF20-E744-BD1F-77A9A013E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Harambee model: every member pulls toward the shared mission — not just their individual component</a:t>
            </a:r>
          </a:p>
          <a:p>
            <a:r>
              <a:rPr lang="en-US"/>
              <a:t>Every mission team defined with: named lead | mission + scope | success metrics | interfaces | dependencies</a:t>
            </a:r>
          </a:p>
          <a:p>
            <a:r>
              <a:rPr lang="en-US"/>
              <a:t>Composition is the default: design for composition, partner early, expose clear interfaces</a:t>
            </a:r>
          </a:p>
          <a:p>
            <a:r>
              <a:rPr lang="en-US"/>
              <a:t>Open repos enable the fastest delivery path — direct contribution, not escalation, to unblock</a:t>
            </a:r>
          </a:p>
          <a:p>
            <a:r>
              <a:rPr lang="en-US"/>
              <a:t>Cross-team contribution encouraged: fix issues where they occur; improve shared components directly</a:t>
            </a:r>
          </a:p>
          <a:p>
            <a:r>
              <a:rPr lang="en-US"/>
              <a:t>Accountability is explicit. Execution is collaborative.</a:t>
            </a:r>
          </a:p>
        </p:txBody>
      </p:sp>
    </p:spTree>
    <p:extLst>
      <p:ext uri="{BB962C8B-B14F-4D97-AF65-F5344CB8AC3E}">
        <p14:creationId xmlns:p14="http://schemas.microsoft.com/office/powerpoint/2010/main" val="2607257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208D-15BC-5A87-C3BA-5D00AABB3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Role of the Senior IC Leader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66676-27A0-9B9B-06C8-CEA6ABB4B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Leadership Model — Who Leads and How</a:t>
            </a:r>
          </a:p>
        </p:txBody>
      </p:sp>
    </p:spTree>
    <p:extLst>
      <p:ext uri="{BB962C8B-B14F-4D97-AF65-F5344CB8AC3E}">
        <p14:creationId xmlns:p14="http://schemas.microsoft.com/office/powerpoint/2010/main" val="696360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063D-3BE5-921F-A9B3-7F32867F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Senior IC Leader: What Tim Wants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5278C-DB17-8ACC-305E-CF2AC2FF2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Leaders wearing two hats simultaneously: IC depth (credibility, grounding) + leadership judgment (alignment)</a:t>
            </a:r>
          </a:p>
          <a:p>
            <a:r>
              <a:rPr lang="en-US"/>
              <a:t>Clarity as the primary output of every senior leader — ambiguity is a leadership failure</a:t>
            </a:r>
          </a:p>
          <a:p>
            <a:r>
              <a:rPr lang="en-US"/>
              <a:t>Hands-on leadership: lean in to standups, specs, designs, execution — no 'management by proxy'</a:t>
            </a:r>
          </a:p>
          <a:p>
            <a:r>
              <a:rPr lang="en-US"/>
              <a:t>No reviews for reviews — context is inherent in how you work, not a stage-gate presentation</a:t>
            </a:r>
          </a:p>
          <a:p>
            <a:r>
              <a:rPr lang="en-US"/>
              <a:t>PM = clarity engine (not traffic controller)</a:t>
            </a:r>
          </a:p>
          <a:p>
            <a:r>
              <a:rPr lang="en-US"/>
              <a:t>Architect = coherence guardian (not review board)</a:t>
            </a:r>
          </a:p>
          <a:p>
            <a:r>
              <a:rPr lang="en-US"/>
              <a:t>Tech Lead = execution owner (not consensus facilitator)</a:t>
            </a:r>
          </a:p>
          <a:p>
            <a:r>
              <a:rPr lang="en-US"/>
              <a:t>EM = execution multiplier (not people-only manager)</a:t>
            </a:r>
          </a:p>
        </p:txBody>
      </p:sp>
    </p:spTree>
    <p:extLst>
      <p:ext uri="{BB962C8B-B14F-4D97-AF65-F5344CB8AC3E}">
        <p14:creationId xmlns:p14="http://schemas.microsoft.com/office/powerpoint/2010/main" val="2044502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6B14-BADC-1B45-1653-8866940F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Senior IC Leader: Why He Wants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5DC4-EDF3-2AA6-6F1C-78CA32A39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Distance creates drift; drift destroys velocity — the gap between leader and work is measured in failures</a:t>
            </a:r>
          </a:p>
          <a:p>
            <a:r>
              <a:rPr lang="en-US"/>
              <a:t>IC-only leaders optimize locally and lose the system — deep but blind to cross-cutting failure modes</a:t>
            </a:r>
          </a:p>
          <a:p>
            <a:r>
              <a:rPr lang="en-US"/>
              <a:t>Manager-only leaders perform 'coordination theater' — activity signals without delivery outcomes</a:t>
            </a:r>
          </a:p>
          <a:p>
            <a:r>
              <a:rPr lang="en-US"/>
              <a:t>Leadership without IC grounding creates noise — direction without credibility</a:t>
            </a:r>
          </a:p>
          <a:p>
            <a:r>
              <a:rPr lang="en-US"/>
              <a:t>IC work without leadership creates fragmentation — execution without system-level coherence</a:t>
            </a:r>
          </a:p>
          <a:p>
            <a:r>
              <a:rPr lang="en-US"/>
              <a:t>Velocity is constrained by ambiguity, not effort — and ambiguity is a leadership product</a:t>
            </a:r>
          </a:p>
        </p:txBody>
      </p:sp>
    </p:spTree>
    <p:extLst>
      <p:ext uri="{BB962C8B-B14F-4D97-AF65-F5344CB8AC3E}">
        <p14:creationId xmlns:p14="http://schemas.microsoft.com/office/powerpoint/2010/main" val="4022694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E6B3-F43F-3102-6C7F-046E942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Senior IC Leader: Observed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6D3B5-C342-718E-EACF-664586A4E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Leaders default to abstraction and review cycles rather than execution proximity</a:t>
            </a:r>
          </a:p>
          <a:p>
            <a:r>
              <a:rPr lang="en-US"/>
              <a:t>PMs operating as backlog operators or traffic controllers — not writing durable clarity artifacts</a:t>
            </a:r>
          </a:p>
          <a:p>
            <a:r>
              <a:rPr lang="en-US"/>
              <a:t>Architects operating as review boards with opinions — not active reality shapers making decisions</a:t>
            </a:r>
          </a:p>
          <a:p>
            <a:r>
              <a:rPr lang="en-US"/>
              <a:t>EMs managing people metrics disconnected from actual execution constraints and technical reality</a:t>
            </a:r>
          </a:p>
          <a:p>
            <a:r>
              <a:rPr lang="en-US"/>
              <a:t>Ambiguity persists through entire delivery cycles because the senior leader who should collapse it didn't</a:t>
            </a:r>
          </a:p>
          <a:p>
            <a:r>
              <a:rPr lang="en-US"/>
              <a:t>Reviews created for the sake of reviews — consuming time without producing clarity or decisions</a:t>
            </a:r>
          </a:p>
        </p:txBody>
      </p:sp>
    </p:spTree>
    <p:extLst>
      <p:ext uri="{BB962C8B-B14F-4D97-AF65-F5344CB8AC3E}">
        <p14:creationId xmlns:p14="http://schemas.microsoft.com/office/powerpoint/2010/main" val="395575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8890-54B9-AA19-A88B-DC5B6381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Senior IC Leader: 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138BE-50DF-2607-55D2-D535BCC02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Both hats required, always: IC ensures technical depth and credibility; leadership ensures alignment</a:t>
            </a:r>
          </a:p>
          <a:p>
            <a:r>
              <a:rPr lang="en-US"/>
              <a:t>PM owns intent, outcomes, tradeoffs — written in durable living artifacts in repos, not email or pptx</a:t>
            </a:r>
          </a:p>
          <a:p>
            <a:r>
              <a:rPr lang="en-US"/>
              <a:t>PM forces explicit scope, quality, and schedule tradeoffs — and documents the decisions</a:t>
            </a:r>
          </a:p>
          <a:p>
            <a:r>
              <a:rPr lang="en-US"/>
              <a:t>Architect defines steel threads, invariants, domain boundaries — engaged early and continuously</a:t>
            </a:r>
          </a:p>
          <a:p>
            <a:r>
              <a:rPr lang="en-US"/>
              <a:t>Tech Lead ships in thin testable increments, surfaces risk early, holds quality bar without heroics</a:t>
            </a:r>
          </a:p>
          <a:p>
            <a:r>
              <a:rPr lang="en-US"/>
              <a:t>EM stays close enough to understand real constraints, develops talent without sacrificing momentum</a:t>
            </a:r>
          </a:p>
          <a:p>
            <a:r>
              <a:rPr lang="en-US"/>
              <a:t>All leaders: lean in. Distance is not professionalism — it is decay.</a:t>
            </a:r>
          </a:p>
        </p:txBody>
      </p:sp>
    </p:spTree>
    <p:extLst>
      <p:ext uri="{BB962C8B-B14F-4D97-AF65-F5344CB8AC3E}">
        <p14:creationId xmlns:p14="http://schemas.microsoft.com/office/powerpoint/2010/main" val="1906910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C774-30E2-712C-6F65-0DEF4A41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Documents, Five Consistent Signals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8BEC9-651F-2896-D4DC-9F2E2155A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1.  Accountability must be explicit and named — not inferred, not collective, not optional</a:t>
            </a:r>
          </a:p>
          <a:p>
            <a:endParaRPr lang="en-US"/>
          </a:p>
          <a:p>
            <a:r>
              <a:rPr lang="en-US"/>
              <a:t>2.  Small teams with clear scope outperform large diffuse teams — consistently and structurally</a:t>
            </a:r>
          </a:p>
          <a:p>
            <a:endParaRPr lang="en-US"/>
          </a:p>
          <a:p>
            <a:r>
              <a:rPr lang="en-US"/>
              <a:t>3.  Material evidence replaces activity narrative — weekly, visible, no exceptions</a:t>
            </a:r>
          </a:p>
          <a:p>
            <a:endParaRPr lang="en-US"/>
          </a:p>
          <a:p>
            <a:r>
              <a:rPr lang="en-US"/>
              <a:t>4.  AI is a productivity multiplier — not adopting it is falling behind by choice, not circumstance</a:t>
            </a:r>
          </a:p>
          <a:p>
            <a:endParaRPr lang="en-US"/>
          </a:p>
          <a:p>
            <a:r>
              <a:rPr lang="en-US"/>
              <a:t>5.  Leaders create clarity and maintain execution proximity — or they fail the team</a:t>
            </a:r>
          </a:p>
          <a:p>
            <a:endParaRPr lang="en-US"/>
          </a:p>
          <a:p>
            <a:r>
              <a:rPr lang="en-US"/>
              <a:t>Every document addresses all five signals from a different angle.</a:t>
            </a:r>
          </a:p>
        </p:txBody>
      </p:sp>
    </p:spTree>
    <p:extLst>
      <p:ext uri="{BB962C8B-B14F-4D97-AF65-F5344CB8AC3E}">
        <p14:creationId xmlns:p14="http://schemas.microsoft.com/office/powerpoint/2010/main" val="1300956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8D05-7586-C1BC-94E2-8D21D71A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Model Layers: The Accountability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F766C-BEF2-5375-F883-FDD3160D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Layer 1 — Individual</a:t>
            </a:r>
          </a:p>
          <a:p>
            <a:r>
              <a:rPr lang="en-US"/>
              <a:t>   Two-hat senior IC leader: IC depth + leadership judgment + hands-on execution proximity</a:t>
            </a:r>
          </a:p>
          <a:p>
            <a:endParaRPr lang="en-US"/>
          </a:p>
          <a:p>
            <a:r>
              <a:rPr lang="en-US"/>
              <a:t>Layer 2 — Team</a:t>
            </a:r>
          </a:p>
          <a:p>
            <a:r>
              <a:rPr lang="en-US"/>
              <a:t>   Mission team: named lead + explicit scope + success metrics + defined interfaces + known dependencies</a:t>
            </a:r>
          </a:p>
          <a:p>
            <a:endParaRPr lang="en-US"/>
          </a:p>
          <a:p>
            <a:r>
              <a:rPr lang="en-US"/>
              <a:t>Layer 3 — Cross-Team</a:t>
            </a:r>
          </a:p>
          <a:p>
            <a:r>
              <a:rPr lang="en-US"/>
              <a:t>   Harambee: composition by default, direct contribution over escalation, open repos</a:t>
            </a:r>
          </a:p>
          <a:p>
            <a:endParaRPr lang="en-US"/>
          </a:p>
          <a:p>
            <a:r>
              <a:rPr lang="en-US"/>
              <a:t>Layer 4 — System</a:t>
            </a:r>
          </a:p>
          <a:p>
            <a:r>
              <a:rPr lang="en-US"/>
              <a:t>   Steel threads + product thinking + infinite-game orientation (no 'done')</a:t>
            </a:r>
          </a:p>
          <a:p>
            <a:endParaRPr lang="en-US"/>
          </a:p>
          <a:p>
            <a:r>
              <a:rPr lang="en-US"/>
              <a:t>Layer 5 — Culture</a:t>
            </a:r>
          </a:p>
          <a:p>
            <a:r>
              <a:rPr lang="en-US"/>
              <a:t>   Meritocracy of contribution + living artifacts + weekly evidence + AI as standard practice</a:t>
            </a:r>
          </a:p>
        </p:txBody>
      </p:sp>
    </p:spTree>
    <p:extLst>
      <p:ext uri="{BB962C8B-B14F-4D97-AF65-F5344CB8AC3E}">
        <p14:creationId xmlns:p14="http://schemas.microsoft.com/office/powerpoint/2010/main" val="1078909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F5E5-2B8B-746D-5262-F59E6A4D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Means for You: By Role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0307B-B9C8-7174-1A8A-13C3CFFAF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PMs: You are clarity engines. Write intent, outcomes, and tradeoffs in repos — not email, not pptx.</a:t>
            </a:r>
          </a:p>
          <a:p>
            <a:endParaRPr lang="en-US"/>
          </a:p>
          <a:p>
            <a:r>
              <a:rPr lang="en-US"/>
              <a:t>Architects: You are active reality shapers. Engage early. Define steel threads. Hold invariants.</a:t>
            </a:r>
          </a:p>
          <a:p>
            <a:endParaRPr lang="en-US"/>
          </a:p>
          <a:p>
            <a:r>
              <a:rPr lang="en-US"/>
              <a:t>Tech Leads: You own execution and quality decisions. Surface risk — don't absorb it silently.</a:t>
            </a:r>
          </a:p>
          <a:p>
            <a:endParaRPr lang="en-US"/>
          </a:p>
          <a:p>
            <a:r>
              <a:rPr lang="en-US"/>
              <a:t>Engineering Managers: You multiply execution capacity. Stay close enough to see real constraints.</a:t>
            </a:r>
          </a:p>
          <a:p>
            <a:endParaRPr lang="en-US"/>
          </a:p>
          <a:p>
            <a:r>
              <a:rPr lang="en-US"/>
              <a:t>All senior leaders: Produce weekly evidence of progress.</a:t>
            </a:r>
          </a:p>
          <a:p>
            <a:r>
              <a:rPr lang="en-US"/>
              <a:t>   Distance from the work is not leadership. It is decay.</a:t>
            </a:r>
          </a:p>
        </p:txBody>
      </p:sp>
    </p:spTree>
    <p:extLst>
      <p:ext uri="{BB962C8B-B14F-4D97-AF65-F5344CB8AC3E}">
        <p14:creationId xmlns:p14="http://schemas.microsoft.com/office/powerpoint/2010/main" val="1731694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F7F8-BDAE-6C28-4D32-E6BC2F15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the Model Has Friction: Tensions to Watch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5F218-C4E5-E67A-4D6E-18E5A054E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Open contribution vs. plan discipline</a:t>
            </a:r>
          </a:p>
          <a:p>
            <a:r>
              <a:rPr lang="en-US"/>
              <a:t>   How is scope authority maintained when anyone can contribute to any repo?</a:t>
            </a:r>
          </a:p>
          <a:p>
            <a:endParaRPr lang="en-US"/>
          </a:p>
          <a:p>
            <a:r>
              <a:rPr lang="en-US"/>
              <a:t>Named accountability vs. psychological safety</a:t>
            </a:r>
          </a:p>
          <a:p>
            <a:r>
              <a:rPr lang="en-US"/>
              <a:t>   Explicit accountability can suppress speaking up when things go wrong</a:t>
            </a:r>
          </a:p>
          <a:p>
            <a:endParaRPr lang="en-US"/>
          </a:p>
          <a:p>
            <a:r>
              <a:rPr lang="en-US"/>
              <a:t>Finite planning cycles vs. infinite mindset</a:t>
            </a:r>
          </a:p>
          <a:p>
            <a:r>
              <a:rPr lang="en-US"/>
              <a:t>   How do you sequence and prioritize without treating cloud delivery as a project?</a:t>
            </a:r>
          </a:p>
          <a:p>
            <a:endParaRPr lang="en-US"/>
          </a:p>
          <a:p>
            <a:r>
              <a:rPr lang="en-US"/>
              <a:t>Meritocracy vs. hierarchy</a:t>
            </a:r>
          </a:p>
          <a:p>
            <a:r>
              <a:rPr lang="en-US"/>
              <a:t>   Who resolves disputes when contribution quality or priority is contested?</a:t>
            </a:r>
          </a:p>
          <a:p>
            <a:endParaRPr lang="en-US"/>
          </a:p>
          <a:p>
            <a:r>
              <a:rPr lang="en-US"/>
              <a:t>Weekly proof gates vs. long-horizon work</a:t>
            </a:r>
          </a:p>
          <a:p>
            <a:r>
              <a:rPr lang="en-US"/>
              <a:t>   What counts as evidence when the meaningful work spans months?</a:t>
            </a:r>
          </a:p>
          <a:p>
            <a:endParaRPr lang="en-US"/>
          </a:p>
          <a:p>
            <a:r>
              <a:rPr lang="en-US"/>
              <a:t>These tensions don't invalidate the model — they are the implementation challenges.</a:t>
            </a:r>
          </a:p>
        </p:txBody>
      </p:sp>
    </p:spTree>
    <p:extLst>
      <p:ext uri="{BB962C8B-B14F-4D97-AF65-F5344CB8AC3E}">
        <p14:creationId xmlns:p14="http://schemas.microsoft.com/office/powerpoint/2010/main" val="2660137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3874-A594-6351-0A4B-C9ECB4BF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to Action: What We Are Being Asked to Do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76E44-425D-F808-7FA4-BDA8C93BF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1.  Define your mission team's scope, lead, metrics, and interfaces — this quarter, in writing, in a repo</a:t>
            </a:r>
          </a:p>
          <a:p>
            <a:endParaRPr lang="en-US"/>
          </a:p>
          <a:p>
            <a:r>
              <a:rPr lang="en-US"/>
              <a:t>2.  Produce weekly evidence of progress — not narrative, not status updates — material evidence</a:t>
            </a:r>
          </a:p>
          <a:p>
            <a:endParaRPr lang="en-US"/>
          </a:p>
          <a:p>
            <a:r>
              <a:rPr lang="en-US"/>
              <a:t>3.  Eliminate management by proxy — lean into standups, specs, code reviews, and failure modes</a:t>
            </a:r>
          </a:p>
          <a:p>
            <a:endParaRPr lang="en-US"/>
          </a:p>
          <a:p>
            <a:r>
              <a:rPr lang="en-US"/>
              <a:t>4.  Embed AI in your delivery workflow now — it is a productivity multiplier, not a future investment</a:t>
            </a:r>
          </a:p>
          <a:p>
            <a:endParaRPr lang="en-US"/>
          </a:p>
          <a:p>
            <a:r>
              <a:rPr lang="en-US"/>
              <a:t>5.  Adopt the operating model — iterate on it, but do not debate it endlessly</a:t>
            </a:r>
          </a:p>
          <a:p>
            <a:endParaRPr lang="en-US"/>
          </a:p>
          <a:p>
            <a:r>
              <a:rPr lang="en-US"/>
              <a:t>'Delivery IS existential. Leaders make the difference. Let's execute together.  ON! ON!'</a:t>
            </a:r>
          </a:p>
        </p:txBody>
      </p:sp>
    </p:spTree>
    <p:extLst>
      <p:ext uri="{BB962C8B-B14F-4D97-AF65-F5344CB8AC3E}">
        <p14:creationId xmlns:p14="http://schemas.microsoft.com/office/powerpoint/2010/main" val="269837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3012</Words>
  <Application>Microsoft Office PowerPoint</Application>
  <PresentationFormat>Widescreen</PresentationFormat>
  <Paragraphs>264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Understanding Tim's Delivery Vision</vt:lpstr>
      <vt:lpstr>The Big Idea: Five Documents, One Argument</vt:lpstr>
      <vt:lpstr>How the Five Documents Connect</vt:lpstr>
      <vt:lpstr>Five Documents at a Glance: Problem  -&gt;  Solution</vt:lpstr>
      <vt:lpstr>Delivery is Existential</vt:lpstr>
      <vt:lpstr>Delivery is Existential: What Tim Wants</vt:lpstr>
      <vt:lpstr>Delivery is Existential: Why He Wants It</vt:lpstr>
      <vt:lpstr>Delivery is Existential: Observed Gaps</vt:lpstr>
      <vt:lpstr>Delivery is Existential: Proposed Solution</vt:lpstr>
      <vt:lpstr>The Delivery Manifesto</vt:lpstr>
      <vt:lpstr>The Delivery Manifesto: What Tim Wants</vt:lpstr>
      <vt:lpstr>The Delivery Manifesto: Why He Wants It</vt:lpstr>
      <vt:lpstr>The Delivery Manifesto: Observed Gaps</vt:lpstr>
      <vt:lpstr>The Delivery Manifesto: Proposed Solution</vt:lpstr>
      <vt:lpstr>Delivery as an Infinite Game</vt:lpstr>
      <vt:lpstr>Delivery as Infinite Game: What Tim Wants</vt:lpstr>
      <vt:lpstr>Delivery as Infinite Game: Why He Wants It</vt:lpstr>
      <vt:lpstr>Delivery as Infinite Game: Observed Gaps</vt:lpstr>
      <vt:lpstr>Delivery as Infinite Game: Proposed Solution</vt:lpstr>
      <vt:lpstr>Harambee and Mission Teams</vt:lpstr>
      <vt:lpstr>Harambee and Mission Teams: What Tim Wants</vt:lpstr>
      <vt:lpstr>Harambee and Mission Teams: Why He Wants It</vt:lpstr>
      <vt:lpstr>Harambee and Mission Teams: Observed Gaps</vt:lpstr>
      <vt:lpstr>Harambee and Mission Teams: Proposed Solution</vt:lpstr>
      <vt:lpstr>The Role of the Senior IC Leader</vt:lpstr>
      <vt:lpstr>Senior IC Leader: What Tim Wants</vt:lpstr>
      <vt:lpstr>Senior IC Leader: Why He Wants It</vt:lpstr>
      <vt:lpstr>Senior IC Leader: Observed Gaps</vt:lpstr>
      <vt:lpstr>Senior IC Leader: Proposed Solution</vt:lpstr>
      <vt:lpstr>Five Documents, Five Consistent Signals</vt:lpstr>
      <vt:lpstr>How the Model Layers: The Accountability Architecture</vt:lpstr>
      <vt:lpstr>What This Means for You: By Role</vt:lpstr>
      <vt:lpstr>Where the Model Has Friction: Tensions to Watch</vt:lpstr>
      <vt:lpstr>Call to Action: What We Are Being Asked 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Brent Jensen</dc:creator>
  <cp:lastModifiedBy>Brent Jensen</cp:lastModifiedBy>
  <cp:revision>1</cp:revision>
  <dcterms:created xsi:type="dcterms:W3CDTF">2026-04-06T19:39:52Z</dcterms:created>
  <dcterms:modified xsi:type="dcterms:W3CDTF">2026-04-06T19:39:52Z</dcterms:modified>
</cp:coreProperties>
</file>